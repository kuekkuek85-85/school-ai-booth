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인사 후 성취기준 두 가지를 먼저 짚어 주고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학생들에게 직접 소리를 내 보게 한 뒤, 그 소리를 '숫자'로 남기는 방법을 상상하게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 시청 후 '샘플링'을 손뼉으로 시연: 일정 박자로 값을 찍어 기록한다는 개념을 몸으로 익힙니다. 자료 출처: 소프트웨어 교육 포털(sai.software.kr).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성취기준 두 가지를 학생 언어로 다시 말해 주며 수업을 닫습니다.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ai.software.kr/_static/contents/2023middle/video.html?url=03/01" TargetMode="External"/><Relationship Id="rId1" Type="http://schemas.openxmlformats.org/officeDocument/2006/relationships/image" Target="../media/image-4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05840"/>
            <a:ext cx="3291840" cy="3291840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291840"/>
            <a:ext cx="2194560" cy="2194560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중학교 정보 · AI 소리인식 수업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S.O.S 세계수를 구하라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3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어떻게 데이터가 되는가 — 디지털 표현과 AI 학습 데이터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6583680" cy="960120"/>
          </a:xfrm>
          <a:prstGeom prst="roundRect">
            <a:avLst>
              <a:gd name="adj" fmla="val 11429"/>
            </a:avLst>
          </a:prstGeom>
          <a:solidFill>
            <a:srgbClr val="332A6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40156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성취기준  </a:t>
            </a:r>
            <a:pPr indent="0" marL="0">
              <a:buNone/>
            </a:pPr>
            <a:r>
              <a:rPr lang="en-US" sz="1350" dirty="0">
                <a:solidFill>
                  <a:srgbClr val="E6E2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9정02-01 실생활 데이터의 디지털 표현  ·  9정04-02 AI 학습 데이터의 수집과 분류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1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EEEB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99616"/>
            <a:ext cx="475488" cy="475488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444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동기유발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465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속 소리, 컴퓨터는 무엇을 듣고 있을까?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EEEBF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487168"/>
            <a:ext cx="475488" cy="475488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4323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[3-1]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7340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 소리인식의 원리 — 컴퓨터가 소리를 듣는 방법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EEE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474720"/>
            <a:ext cx="475488" cy="475488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4198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72160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좋아야 인공지능이 똑똑해진다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1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동기유발 — 숲이 조용해졌다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892040" cy="1051560"/>
          </a:xfrm>
          <a:prstGeom prst="roundRect">
            <a:avLst>
              <a:gd name="adj" fmla="val 10435"/>
            </a:avLst>
          </a:prstGeom>
          <a:solidFill>
            <a:srgbClr val="241C4D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344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“세계수가 병들었다. 단서는 숲의 ‘소리’ 뿐이다.”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42316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E2E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새소리 · 물소리 · 벌목 소리를 구분해 낼 수 있다면?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E2E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귀로 듣는다. 그렇다면 컴퓨터는 무엇으로 들을까?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E2E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음성 비서는 내 목소리를 어떻게 알아들을까?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4892040" cy="658368"/>
          </a:xfrm>
          <a:prstGeom prst="roundRect">
            <a:avLst>
              <a:gd name="adj" fmla="val 13889"/>
            </a:avLst>
          </a:prstGeom>
          <a:solidFill>
            <a:srgbClr val="EEEB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977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발문 : 소리를 컴퓨터에 저장하려면 무엇으로 바꿔야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143000"/>
            <a:ext cx="2834640" cy="3493008"/>
          </a:xfrm>
          <a:prstGeom prst="roundRect">
            <a:avLst>
              <a:gd name="adj" fmla="val 4516"/>
            </a:avLst>
          </a:prstGeom>
          <a:solidFill>
            <a:srgbClr val="EEEBFA"/>
          </a:solidFill>
          <a:ln/>
        </p:spPr>
      </p:sp>
      <p:sp>
        <p:nvSpPr>
          <p:cNvPr id="9" name="Shape 7"/>
          <p:cNvSpPr/>
          <p:nvPr/>
        </p:nvSpPr>
        <p:spPr>
          <a:xfrm>
            <a:off x="5989320" y="2491740"/>
            <a:ext cx="91440" cy="320040"/>
          </a:xfrm>
          <a:prstGeom prst="roundRect">
            <a:avLst>
              <a:gd name="adj" fmla="val 50000"/>
            </a:avLst>
          </a:prstGeom>
          <a:solidFill>
            <a:srgbClr val="F5B400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2308860"/>
            <a:ext cx="91440" cy="685800"/>
          </a:xfrm>
          <a:prstGeom prst="roundRect">
            <a:avLst>
              <a:gd name="adj" fmla="val 50000"/>
            </a:avLst>
          </a:prstGeom>
          <a:solidFill>
            <a:srgbClr val="4A3F9E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080260"/>
            <a:ext cx="91440" cy="1143000"/>
          </a:xfrm>
          <a:prstGeom prst="roundRect">
            <a:avLst>
              <a:gd name="adj" fmla="val 50000"/>
            </a:avLst>
          </a:prstGeom>
          <a:solidFill>
            <a:srgbClr val="4A3F9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2240280"/>
            <a:ext cx="91440" cy="822960"/>
          </a:xfrm>
          <a:prstGeom prst="roundRect">
            <a:avLst>
              <a:gd name="adj" fmla="val 50000"/>
            </a:avLst>
          </a:prstGeom>
          <a:solidFill>
            <a:srgbClr val="F5B4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0840" y="1897380"/>
            <a:ext cx="91440" cy="1508760"/>
          </a:xfrm>
          <a:prstGeom prst="roundRect">
            <a:avLst>
              <a:gd name="adj" fmla="val 50000"/>
            </a:avLst>
          </a:prstGeom>
          <a:solidFill>
            <a:srgbClr val="4A3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6903720" y="2125980"/>
            <a:ext cx="91440" cy="1051560"/>
          </a:xfrm>
          <a:prstGeom prst="roundRect">
            <a:avLst>
              <a:gd name="adj" fmla="val 50000"/>
            </a:avLst>
          </a:prstGeom>
          <a:solidFill>
            <a:srgbClr val="4A3F9E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1783080"/>
            <a:ext cx="91440" cy="1737360"/>
          </a:xfrm>
          <a:prstGeom prst="roundRect">
            <a:avLst>
              <a:gd name="adj" fmla="val 50000"/>
            </a:avLst>
          </a:prstGeom>
          <a:solidFill>
            <a:srgbClr val="F5B400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9480" y="2057400"/>
            <a:ext cx="91440" cy="1188720"/>
          </a:xfrm>
          <a:prstGeom prst="roundRect">
            <a:avLst>
              <a:gd name="adj" fmla="val 50000"/>
            </a:avLst>
          </a:prstGeom>
          <a:solidFill>
            <a:srgbClr val="4A3F9E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2360" y="2263140"/>
            <a:ext cx="91440" cy="777240"/>
          </a:xfrm>
          <a:prstGeom prst="roundRect">
            <a:avLst>
              <a:gd name="adj" fmla="val 50000"/>
            </a:avLst>
          </a:prstGeom>
          <a:solidFill>
            <a:srgbClr val="4A3F9E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240" y="1988820"/>
            <a:ext cx="91440" cy="1325880"/>
          </a:xfrm>
          <a:prstGeom prst="roundRect">
            <a:avLst>
              <a:gd name="adj" fmla="val 50000"/>
            </a:avLst>
          </a:prstGeom>
          <a:solidFill>
            <a:srgbClr val="F5B4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818120" y="2377440"/>
            <a:ext cx="91440" cy="548640"/>
          </a:xfrm>
          <a:prstGeom prst="roundRect">
            <a:avLst>
              <a:gd name="adj" fmla="val 50000"/>
            </a:avLst>
          </a:prstGeom>
          <a:solidFill>
            <a:srgbClr val="4A3F9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0" y="2194560"/>
            <a:ext cx="91440" cy="914400"/>
          </a:xfrm>
          <a:prstGeom prst="roundRect">
            <a:avLst>
              <a:gd name="adj" fmla="val 50000"/>
            </a:avLst>
          </a:prstGeom>
          <a:solidFill>
            <a:srgbClr val="4A3F9E"/>
          </a:solidFill>
          <a:ln/>
        </p:spPr>
      </p:sp>
      <p:sp>
        <p:nvSpPr>
          <p:cNvPr id="21" name="Shape 19"/>
          <p:cNvSpPr/>
          <p:nvPr/>
        </p:nvSpPr>
        <p:spPr>
          <a:xfrm>
            <a:off x="8183880" y="2468880"/>
            <a:ext cx="91440" cy="365760"/>
          </a:xfrm>
          <a:prstGeom prst="roundRect">
            <a:avLst>
              <a:gd name="adj" fmla="val 50000"/>
            </a:avLst>
          </a:prstGeom>
          <a:solidFill>
            <a:srgbClr val="F5B400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= 흔들리는 공기의 파동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[3-1] 인공지능 소리인식의 원리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컴퓨터가 소리를 듣는 방법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72184"/>
            <a:ext cx="402336" cy="402336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72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15568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→ 전기 신호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72821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마이크가 공기의 진동을 전류의 변화로 바꾼다.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14016"/>
            <a:ext cx="402336" cy="402336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15568" y="2359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신호 → 디지털 데이터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26700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간격으로 표본을 뽑아(샘플링) 숫자로 저장한다.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355848"/>
            <a:ext cx="402336" cy="402336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15568" y="33009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→ 인공지능 학습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바뀐 소리를 모아 분류해야 AI가 소리를 구분한다.</a:t>
            </a:r>
            <a:endParaRPr lang="en-US" sz="1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71600"/>
            <a:ext cx="3246120" cy="1828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49240" y="3246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자료 화면 : 마이크의 전류 흐름을 디지털 신호로 변환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315968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EEEBFA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3159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3F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바로가기  </a:t>
            </a:r>
            <a:pPr indent="0" marL="0">
              <a:buNone/>
            </a:pPr>
            <a:r>
              <a:rPr lang="en-US" sz="1150" u="sng" dirty="0">
                <a:solidFill>
                  <a:srgbClr val="1B4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  <a:hlinkClick r:id="rId2" invalidUrl="" action="" tgtFrame="" tooltip="[3-1] 인공지능 소리인식의 원리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https://sai.software.kr/_static/contents/2023middle/video.html?url=03/01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657600"/>
            <a:ext cx="2560320" cy="2560320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— 오늘 꼭 기억할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332A6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5331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소리도 데이터다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D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귀에 들리는 모든 소리는 숫자로 바꿔 저장할 수 있다. (9정02-01)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332A6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데이터의 품질이 곧 AI의 실력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D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모으고 잘 분류한 데이터라야 AI가 소리를 정확히 구분한다. (9정04-02)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332A6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5643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세계수를 구하는 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D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숲의 소리를 데이터로 모아 분류하는 순간, 문제 해결이 시작된다.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9B2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“데이터를 보는 눈이, 인공지능을 다루는 힘이 됩니다.”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S.O.S 세계수를 구하라</dc:title>
  <dc:subject>PptxGenJS Presentation</dc:subject>
  <dc:creator>이승엽</dc:creator>
  <cp:lastModifiedBy>이승엽</cp:lastModifiedBy>
  <cp:revision>1</cp:revision>
  <dcterms:created xsi:type="dcterms:W3CDTF">2026-08-05T14:43:23Z</dcterms:created>
  <dcterms:modified xsi:type="dcterms:W3CDTF">2026-08-05T14:43:23Z</dcterms:modified>
</cp:coreProperties>
</file>