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333875"/>
            <a:ext cx="9048750" cy="1047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4486275"/>
            <a:ext cx="8553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38BDF8"/>
                </a:solidFill>
                <a:latin typeface="Noto Sans KR"/>
              </a:rPr>
              <a:t>[성취기준 9정02-01]</a:t>
            </a:r>
            <a:r>
              <a:rPr b="0" sz="1125" i="0" u="none">
                <a:solidFill>
                  <a:srgbClr val="CBD5E1"/>
                </a:solidFill>
                <a:latin typeface="Noto Sans KR"/>
              </a:rPr>
              <a:t> 실생활의 데이터가 디지털 형태로 변환되어 활용되는 긍정적 가치를 탐색하고, 다양한 데이터를 디지털 형태로 표현한다.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5000625"/>
            <a:ext cx="8553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38BDF8"/>
                </a:solidFill>
                <a:latin typeface="Noto Sans KR"/>
              </a:rPr>
              <a:t>[성취기준 9정04-02]</a:t>
            </a:r>
            <a:r>
              <a:rPr b="0" sz="1125" i="0" u="none">
                <a:solidFill>
                  <a:srgbClr val="CBD5E1"/>
                </a:solidFill>
                <a:latin typeface="Noto Sans KR"/>
              </a:rPr>
              <a:t> 인공지능 학습에서 데이터의 중요성을 이해하고, 학습에 필요한 데이터를 수집하여 분류한다.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1476375"/>
            <a:ext cx="2417266" cy="352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2066925"/>
            <a:ext cx="6934304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625"/>
              </a:lnSpc>
            </a:pPr>
            <a:r>
              <a:rPr b="0" sz="4500" i="0" u="none">
                <a:solidFill>
                  <a:srgbClr val="FFFFFF"/>
                </a:solidFill>
                <a:latin typeface="Noto Sans KR Black"/>
              </a:rPr>
              <a:t>S.O.S 세계수를 구하라</a:t>
            </a:r>
            <a:r>
              <a:t>
</a:t>
            </a:r>
            <a:r>
              <a:rPr b="0" sz="4500" i="0" u="none">
                <a:solidFill>
                  <a:srgbClr val="38BDF8"/>
                </a:solidFill>
                <a:latin typeface="Noto Sans KR Black"/>
              </a:rPr>
              <a:t>인공지능 소리인식의 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686175"/>
            <a:ext cx="385375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Noto Sans KR"/>
              </a:rPr>
              <a:t>[3-1] 컴퓨터가 소리를 듣고 이해하는 방법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2237"/>
            <a:ext cx="2619375" cy="2409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662237"/>
            <a:ext cx="2619375" cy="2409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662237"/>
            <a:ext cx="2619375" cy="2409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2662237"/>
            <a:ext cx="2619375" cy="2409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3062" y="3005137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2937" y="3005137"/>
            <a:ext cx="476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2812" y="3005137"/>
            <a:ext cx="476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2687" y="3005137"/>
            <a:ext cx="476250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38162"/>
            <a:ext cx="266848" cy="342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81137" y="3671887"/>
            <a:ext cx="8001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KR"/>
              </a:rPr>
              <a:t>동기유발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043362"/>
            <a:ext cx="21240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Noto Sans KR"/>
              </a:rPr>
              <a:t>세계수의 위기와 스마트 스피커의 비밀(소리 인식 상황 제시)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923" y="3671887"/>
            <a:ext cx="2230278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KR"/>
              </a:rPr>
              <a:t>소리 데이터의 디지털 변환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9025" y="4300537"/>
            <a:ext cx="21240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Noto Sans KR"/>
              </a:rPr>
              <a:t>아날로그 음파를 컴퓨터 숫자로 만드는 3단계 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9577" y="3671887"/>
            <a:ext cx="1822571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KR"/>
              </a:rPr>
              <a:t>AI 특징 추출 및 분류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4043362"/>
            <a:ext cx="21240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Noto Sans KR"/>
              </a:rPr>
              <a:t>소리 데이터에서 패턴을 추출하고 AI가 판별하는 핵심 기법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7243" y="3671887"/>
            <a:ext cx="216698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Noto Sans KR"/>
              </a:rPr>
              <a:t>학습 정리 &amp; 핵심 메시지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4043362"/>
            <a:ext cx="21240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Noto Sans KR"/>
              </a:rPr>
              <a:t>디지털 데이터의 가치와 올바른 AI 학습 데이터의 중요성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648" y="476250"/>
            <a:ext cx="11201243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강의 목차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858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57400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79451"/>
            <a:ext cx="5334000" cy="16799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8162"/>
            <a:ext cx="266848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2066925"/>
            <a:ext cx="531495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5140" y="2574726"/>
            <a:ext cx="470933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369A1"/>
                </a:solidFill>
                <a:latin typeface="Noto Sans KR"/>
              </a:rPr>
              <a:t>S.O.S 상황 탐색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003351"/>
            <a:ext cx="47434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Noto Sans KR"/>
              </a:rPr>
              <a:t>위기에 처한 </a:t>
            </a:r>
            <a:r>
              <a:rPr b="1" sz="1275" i="0" u="none">
                <a:solidFill>
                  <a:srgbClr val="334155"/>
                </a:solidFill>
                <a:latin typeface="Noto Sans KR"/>
              </a:rPr>
              <a:t>세계수</a:t>
            </a:r>
            <a:r>
              <a:rPr b="0" sz="1275" i="0" u="none">
                <a:solidFill>
                  <a:srgbClr val="334155"/>
                </a:solidFill>
                <a:latin typeface="Noto Sans KR"/>
              </a:rPr>
              <a:t>를 구하기 위해 특수 음성 주문을 인식하는 인공지능 수호 장치를 작동시켜야 합니다!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4149923"/>
            <a:ext cx="5334000" cy="58102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532" y="4321373"/>
            <a:ext cx="4690467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75" i="0" u="none">
                <a:solidFill>
                  <a:srgbClr val="1E293B"/>
                </a:solidFill>
                <a:latin typeface="Noto Sans KR Medium"/>
              </a:rPr>
              <a:t>사람의 귀와 컴퓨터는 소리를 어떻게 다르게 받아들일까요?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721423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149923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149923"/>
            <a:ext cx="47625" cy="581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5975" y="4149923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4873823"/>
            <a:ext cx="5334000" cy="581025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532" y="5045273"/>
            <a:ext cx="4690467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75" i="0" u="none">
                <a:solidFill>
                  <a:srgbClr val="1E293B"/>
                </a:solidFill>
                <a:latin typeface="Noto Sans KR Medium"/>
              </a:rPr>
              <a:t>스마트 스피커는 내 목소리와 주변 소음을 어떻게 구분할까요?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5445323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873823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4873823"/>
            <a:ext cx="47625" cy="581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95975" y="4873823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612826"/>
            <a:ext cx="163115" cy="20955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71500" y="4721423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" y="5445323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330898"/>
            <a:ext cx="148232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5054798"/>
            <a:ext cx="148232" cy="2190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2648" y="476250"/>
            <a:ext cx="11201243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동기유발: AI는 어떻게 소리를 들을까?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10858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037" y="1828800"/>
            <a:ext cx="4843462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28787"/>
            <a:ext cx="5919787" cy="1114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86087"/>
            <a:ext cx="5919787" cy="1114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43387"/>
            <a:ext cx="5919787" cy="1114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38162"/>
            <a:ext cx="266848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48312"/>
            <a:ext cx="110490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1458" y="5691187"/>
            <a:ext cx="1355824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Noto Sans KR"/>
              </a:rPr>
              <a:t>수업 콘텐츠 대표 링크: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9041" y="5700712"/>
            <a:ext cx="456143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Noto Sans KR SemiBold"/>
              </a:rPr>
              <a:t>https://sai.software.kr/_static/contents/2023middle/video.html?url=03/01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6562" y="1838325"/>
            <a:ext cx="4824412" cy="3409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5710237"/>
            <a:ext cx="103733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1928812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575" y="3186112"/>
            <a:ext cx="419100" cy="419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" y="4443412"/>
            <a:ext cx="419100" cy="419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6008" y="2043112"/>
            <a:ext cx="148232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81125" y="1928812"/>
            <a:ext cx="51356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1. 소리의 디지털 변환 (ADC)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1125" y="2214562"/>
            <a:ext cx="489108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Noto Sans KR"/>
              </a:rPr>
              <a:t>공기의 진동인 아날로그 소리파형을 일정 시간 간격으로 잘라(표본화), 숫자로 바꾸고(양자화), 0과 1의 이진수로 변환(부호화)합니다.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6008" y="3300412"/>
            <a:ext cx="148232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81125" y="3186112"/>
            <a:ext cx="51356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2. 음성 특징 추출 (Feature Extraction)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1125" y="3471862"/>
            <a:ext cx="489108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Noto Sans KR"/>
              </a:rPr>
              <a:t>소리 데이터를 스펙트로그램(주파수/진폭 변화) 이미지로 시각화하여 음성의 고유한 특징 패턴을 추출합니다.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6008" y="4557712"/>
            <a:ext cx="148232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81125" y="4443412"/>
            <a:ext cx="51356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3. 데이터 학습 및 패턴 분류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125" y="4729162"/>
            <a:ext cx="4891087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Noto Sans KR"/>
              </a:rPr>
              <a:t>수집된 음성 데이터를 인공지능 모델에 학습시켜, 입력된 새로운 소리가 어떤 단어나 화자인지 정확히 분류합니다.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648" y="476250"/>
            <a:ext cx="11201243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[3-1] 인공지능 소리인식의 원리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10858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2764"/>
            <a:ext cx="5381625" cy="21371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12764"/>
            <a:ext cx="5381625" cy="21371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8162"/>
            <a:ext cx="266848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615" y="2446139"/>
            <a:ext cx="477934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KR"/>
              </a:rPr>
              <a:t>디지털 데이터 표현의 가치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2990" y="2446139"/>
            <a:ext cx="4779347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KR"/>
              </a:rPr>
              <a:t>AI 학습 데이터의 중요성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4954785"/>
            <a:ext cx="266848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2223" y="4869060"/>
            <a:ext cx="9924901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1F5F9"/>
                </a:solidFill>
                <a:latin typeface="Noto Sans KR Medium"/>
              </a:rPr>
              <a:t>"컴퓨터가 세상의 소리를 이해하는 원리를 아는 것은, 인공지능과 함께 살아갈 미래 사회에서 디지털 세상을 주도적으로 설계하는 첫걸음입니다."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484239"/>
            <a:ext cx="16311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50" y="2874764"/>
            <a:ext cx="45815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Noto Sans KR"/>
              </a:rPr>
              <a:t>소리, 이미지 등 아날로그 세상의 모든 현상은 디지털 숫자로 정밀하게 변환될 수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3476625"/>
            <a:ext cx="45815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Noto Sans KR"/>
              </a:rPr>
              <a:t>디지털화된 데이터는 컴퓨터가 손상 없이 저장, 전송, 처리할 수 있는 강력한 기반이 됩니다.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2484239"/>
            <a:ext cx="16311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53225" y="2874764"/>
            <a:ext cx="45815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Noto Sans KR"/>
              </a:rPr>
              <a:t>인공지능의 성능은 정확하고 다양한 소리 데이터를 수집하고 올바르게 분류하는 것에 달려 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3476625"/>
            <a:ext cx="45815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Noto Sans KR"/>
              </a:rPr>
              <a:t>다양한 환경과 화자의 데이터를 균형 있게 학습시켜야 편향 없는 훌륭한 AI를 완성할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2874764"/>
            <a:ext cx="152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0284C7"/>
                </a:solidFill>
                <a:latin typeface="Noto Sans KR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476625"/>
            <a:ext cx="152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0284C7"/>
                </a:solidFill>
                <a:latin typeface="Noto Sans K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2874764"/>
            <a:ext cx="152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10B981"/>
                </a:solidFill>
                <a:latin typeface="Noto Sans K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3476625"/>
            <a:ext cx="1524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10B981"/>
                </a:solidFill>
                <a:latin typeface="Noto Sans K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648" y="476250"/>
            <a:ext cx="11201243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정리 및 마무리: 교사의 핵심 메시지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858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038475"/>
            <a:ext cx="11049000" cy="800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829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829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9563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81350"/>
            <a:ext cx="99536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Noto Sans KR"/>
              </a:rPr>
              <a:t>https://epe.brightspotcdn.com/dims4/default/1caa270/2147483647/strip/true/crop/5659x3840+51+0/resize/840x570!/quality/90/?url=https%3A%2F%2Fepe-brightspot.s3.us-east-1.amazonaws.com%2F29%2F1b%2F4a11a6304967b43bf7e98b7ab885%2F101425-ai-passaic-schools-05-el.JPG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514725"/>
            <a:ext cx="9953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www.edweek.org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9573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981450"/>
            <a:ext cx="99536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Noto Sans KR"/>
              </a:rPr>
              <a:t>https://static.vecteezy.com/system/resources/thumbnails/068/226/851/small_2x/dark-gray-rounded-digital-audio-waveform-visualizing-sound-frequency-with-vertical-bars-and-small-dots-on-white-background-representing-audio-signal-processing-music-editing-and-sound-design-vector.jpg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314825"/>
            <a:ext cx="9953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www.vecteezy.com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Noto Sans KR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19175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