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slideMasters/slideMaster4.xml" ContentType="application/vnd.openxmlformats-officedocument.presentationml.slideMaster+xml"/>
  <Override PartName="/ppt/slides/slide4.xml" ContentType="application/vnd.openxmlformats-officedocument.presentationml.slide+xml"/>
  <Override PartName="/ppt/slideMasters/slideMaster5.xml" ContentType="application/vnd.openxmlformats-officedocument.presentationml.slideMaster+xml"/>
  <Override PartName="/ppt/slides/slide5.xml" ContentType="application/vnd.openxmlformats-officedocument.presentationml.slide+xml"/>
  <Override PartName="/ppt/slideMasters/slideMaster6.xml" ContentType="application/vnd.openxmlformats-officedocument.presentationml.slideMaster+xml"/>
  <Override PartName="/ppt/slides/slide6.xml" ContentType="application/vnd.openxmlformats-officedocument.presentationml.slide+xml"/>
  <Override PartName="/ppt/slideMasters/slideMaster7.xml" ContentType="application/vnd.openxmlformats-officedocument.presentationml.slideMaster+xml"/>
  <Override PartName="/ppt/slides/slide7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</p:sldIdLst>
  <p:notesMasterIdLst>
    <p:notesMasterId r:id="rId9"/>
  </p:notesMasterIdLst>
  <p:sldSz cx="12192000" cy="6858000"/>
  <p:notesSz cx="6858000" cy="12192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notesMaster" Target="notesMasters/notesMaster1.xml"/><Relationship Id="rId10" Type="http://schemas.openxmlformats.org/officeDocument/2006/relationships/presProps" Target="presProps.xml"/><Relationship Id="rId11" Type="http://schemas.openxmlformats.org/officeDocument/2006/relationships/viewProps" Target="viewProps.xml"/><Relationship Id="rId12" Type="http://schemas.openxmlformats.org/officeDocument/2006/relationships/theme" Target="theme/theme1.xml"/><Relationship Id="rId13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_rels/notesSlide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.xml"/>
		</Relationships>
</file>

<file path=ppt/notesSlides/_rels/notesSlide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.xml"/>
		</Relationships>
</file>

<file path=ppt/notesSlides/_rels/notesSlide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.xml"/>
		</Relationships>
</file>

<file path=ppt/notesSlides/_rels/notesSlide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7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-1.jpe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hyperlink" Target="https://sai.software.kr/x/02_02.html" TargetMode="External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4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hyperlink" Target="https://sai.software.kr/x/02_07.html" TargetMode="External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5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hyperlink" Target="https://sai.software.kr/x/02_08.html" TargetMode="External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6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7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1737360"/>
            <a:ext cx="11091672" cy="12801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4000" b="1" dirty="0">
                <a:solidFill>
                  <a:srgbClr val="000000"/>
                </a:solidFill>
              </a:rPr>
              <a:t>중학교 국어 읽기 수업: 어휘 파악에서 의미 해석까지</a:t>
            </a:r>
            <a:endParaRPr lang="en-US" sz="4000" dirty="0"/>
          </a:p>
        </p:txBody>
      </p:sp>
      <p:sp>
        <p:nvSpPr>
          <p:cNvPr id="3" name="Text 1"/>
          <p:cNvSpPr/>
          <p:nvPr/>
        </p:nvSpPr>
        <p:spPr>
          <a:xfrm>
            <a:off x="548640" y="3108960"/>
            <a:ext cx="11091672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000" dirty="0">
                <a:solidFill>
                  <a:srgbClr val="666666"/>
                </a:solidFill>
              </a:rPr>
              <a:t>성취기준 9국02-03, 9국02-04 연계 독서 활동</a:t>
            </a:r>
            <a:endParaRPr lang="en-US" sz="2000" dirty="0"/>
          </a:p>
        </p:txBody>
      </p:sp>
      <p:pic>
        <p:nvPicPr>
          <p:cNvPr id="4" name="Image 0" descr="preencoded.png">    </p:cNvPr>
          <p:cNvPicPr>
            <a:picLocks noChangeAspect="1"/>
          </p:cNvPicPr>
          <p:nvPr/>
        </p:nvPicPr>
        <p:blipFill>
          <a:blip r:embed="rId1"/>
          <a:srcRect l="0" r="0" t="0" b="0"/>
          <a:stretch/>
        </p:blipFill>
        <p:spPr>
          <a:xfrm>
            <a:off x="3355848" y="4023360"/>
            <a:ext cx="5486400" cy="2468880"/>
          </a:xfrm>
          <a:prstGeom prst="rect">
            <a:avLst/>
          </a:prstGeom>
        </p:spPr>
      </p:pic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320040"/>
            <a:ext cx="11274552" cy="8229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600" b="1" dirty="0">
                <a:solidFill>
                  <a:srgbClr val="D97706"/>
                </a:solidFill>
              </a:rPr>
              <a:t>목차</a:t>
            </a:r>
            <a:endParaRPr lang="en-US" sz="2600" dirty="0"/>
          </a:p>
        </p:txBody>
      </p:sp>
      <p:sp>
        <p:nvSpPr>
          <p:cNvPr id="3" name="Text 1"/>
          <p:cNvSpPr/>
          <p:nvPr/>
        </p:nvSpPr>
        <p:spPr>
          <a:xfrm>
            <a:off x="822960" y="1554480"/>
            <a:ext cx="10543032" cy="45720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30000"/>
              </a:lnSpc>
              <a:buNone/>
            </a:pPr>
            <a:r>
              <a:rPr lang="en-US" sz="2000" dirty="0">
                <a:solidFill>
                  <a:srgbClr val="000000"/>
                </a:solidFill>
              </a:rPr>
              <a:t>1. 동기 유발: 글 읽기의 중요성과 탐구 목표</a:t>
            </a:r>
            <a:endParaRPr lang="en-US" sz="2000" dirty="0"/>
          </a:p>
          <a:p>
            <a:pPr indent="0" marL="0">
              <a:lnSpc>
                <a:spcPct val="130000"/>
              </a:lnSpc>
              <a:buNone/>
            </a:pPr>
            <a:r>
              <a:rPr lang="en-US" sz="2000" dirty="0">
                <a:solidFill>
                  <a:srgbClr val="000000"/>
                </a:solidFill>
              </a:rPr>
              <a:t>2. 활동 1: 어휘 간의 의미 관계 파악하기</a:t>
            </a:r>
            <a:endParaRPr lang="en-US" sz="2000" dirty="0"/>
          </a:p>
          <a:p>
            <a:pPr indent="0" marL="0">
              <a:lnSpc>
                <a:spcPct val="130000"/>
              </a:lnSpc>
              <a:buNone/>
            </a:pPr>
            <a:r>
              <a:rPr lang="en-US" sz="2000" dirty="0">
                <a:solidFill>
                  <a:srgbClr val="000000"/>
                </a:solidFill>
              </a:rPr>
              <a:t>3. 활동 2: 글의 정보 구조화 및 시각화</a:t>
            </a:r>
            <a:endParaRPr lang="en-US" sz="2000" dirty="0"/>
          </a:p>
          <a:p>
            <a:pPr indent="0" marL="0">
              <a:lnSpc>
                <a:spcPct val="130000"/>
              </a:lnSpc>
              <a:buNone/>
            </a:pPr>
            <a:r>
              <a:rPr lang="en-US" sz="2000" dirty="0">
                <a:solidFill>
                  <a:srgbClr val="000000"/>
                </a:solidFill>
              </a:rPr>
              <a:t>4. 활동 3: 글의 주제 및 맥락적 의미 해석</a:t>
            </a:r>
            <a:endParaRPr lang="en-US" sz="2000" dirty="0"/>
          </a:p>
          <a:p>
            <a:pPr indent="0" marL="0">
              <a:lnSpc>
                <a:spcPct val="130000"/>
              </a:lnSpc>
              <a:buNone/>
            </a:pPr>
            <a:r>
              <a:rPr lang="en-US" sz="2000" dirty="0">
                <a:solidFill>
                  <a:srgbClr val="000000"/>
                </a:solidFill>
              </a:rPr>
              <a:t>5. 정리 및 결론: 주체적인 독자로 성장하기</a:t>
            </a:r>
            <a:endParaRPr lang="en-US" sz="200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320040"/>
            <a:ext cx="11274552" cy="8229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600" b="1" dirty="0">
                <a:solidFill>
                  <a:srgbClr val="D97706"/>
                </a:solidFill>
              </a:rPr>
              <a:t>효과적인 글 읽기는 어떻게 이루어지는가?</a:t>
            </a:r>
            <a:endParaRPr lang="en-US" sz="2600" dirty="0"/>
          </a:p>
        </p:txBody>
      </p:sp>
      <p:sp>
        <p:nvSpPr>
          <p:cNvPr id="3" name="Text 1"/>
          <p:cNvSpPr/>
          <p:nvPr/>
        </p:nvSpPr>
        <p:spPr>
          <a:xfrm>
            <a:off x="822960" y="1737360"/>
            <a:ext cx="10543032" cy="41148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30000"/>
              </a:lnSpc>
              <a:buNone/>
            </a:pPr>
            <a:r>
              <a:rPr lang="en-US" sz="2200" dirty="0">
                <a:solidFill>
                  <a:srgbClr val="000000"/>
                </a:solidFill>
              </a:rPr>
              <a:t>글을 정확하게 이해하기 위해서는 어휘의 관계를 파악하고, 정보를 시각적으로 구조화하며, 맥락을 통해 깊이 있게 의미를 해석하는 능력이 필요합니다.</a:t>
            </a:r>
            <a:endParaRPr lang="en-US" sz="220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320040"/>
            <a:ext cx="11274552" cy="8229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600" b="1" dirty="0">
                <a:solidFill>
                  <a:srgbClr val="D97706"/>
                </a:solidFill>
              </a:rPr>
              <a:t>[활동 1] 어휘 의미 관계 파악하기</a:t>
            </a:r>
            <a:endParaRPr lang="en-US" sz="2600" dirty="0"/>
          </a:p>
        </p:txBody>
      </p:sp>
      <p:sp>
        <p:nvSpPr>
          <p:cNvPr id="3" name="Text 1"/>
          <p:cNvSpPr/>
          <p:nvPr/>
        </p:nvSpPr>
        <p:spPr>
          <a:xfrm>
            <a:off x="822960" y="1645920"/>
            <a:ext cx="10543032" cy="3931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342900" indent="-342900">
              <a:lnSpc>
                <a:spcPct val="125000"/>
              </a:lnSpc>
              <a:buSzPct val="100000"/>
              <a:buChar char="•"/>
            </a:pPr>
            <a:r>
              <a:rPr lang="en-US" sz="2000" dirty="0">
                <a:solidFill>
                  <a:srgbClr val="000000"/>
                </a:solidFill>
              </a:rPr>
              <a:t>유의, 반의, 상하 관계 등 어휘 간의 의미적 연결성 탐구</a:t>
            </a:r>
            <a:endParaRPr lang="en-US" sz="2000" dirty="0"/>
          </a:p>
          <a:p>
            <a:pPr marL="342900" indent="-342900">
              <a:lnSpc>
                <a:spcPct val="125000"/>
              </a:lnSpc>
              <a:buSzPct val="100000"/>
              <a:buChar char="•"/>
            </a:pPr>
            <a:r>
              <a:rPr lang="en-US" sz="2000" dirty="0">
                <a:solidFill>
                  <a:srgbClr val="000000"/>
                </a:solidFill>
              </a:rPr>
              <a:t>문맥 속에서 활용된 어휘의 다의적·비유적 의미 이해</a:t>
            </a:r>
            <a:endParaRPr lang="en-US" sz="2000" dirty="0"/>
          </a:p>
          <a:p>
            <a:pPr marL="342900" indent="-342900">
              <a:lnSpc>
                <a:spcPct val="125000"/>
              </a:lnSpc>
              <a:buSzPct val="100000"/>
              <a:buChar char="•"/>
            </a:pPr>
            <a:r>
              <a:rPr lang="en-US" sz="2000" dirty="0">
                <a:solidFill>
                  <a:srgbClr val="000000"/>
                </a:solidFill>
              </a:rPr>
              <a:t>어휘력 확장을 통한 정확한 문장 이해도 향상</a:t>
            </a:r>
            <a:endParaRPr lang="en-US" sz="2000" dirty="0"/>
          </a:p>
        </p:txBody>
      </p:sp>
      <p:sp>
        <p:nvSpPr>
          <p:cNvPr id="4" name="Text 2"/>
          <p:cNvSpPr/>
          <p:nvPr/>
        </p:nvSpPr>
        <p:spPr>
          <a:xfrm>
            <a:off x="822960" y="6126480"/>
            <a:ext cx="10543032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u="sng" dirty="0">
                <a:solidFill>
                  <a:srgbClr val="1155CC"/>
                </a:solidFill>
                <a:hlinkClick r:id="rId1" invalidUrl="" action="" tgtFrame="" tooltip="" history="1" highlightClick="0" endSnd="0">
                  <a:extLst>
                    <a:ext uri="{A12FA001-AC4F-418D-AE19-62706E023703}">
                      <ahyp:hlinkClr xmlns:ahyp="http://schemas.microsoft.com/office/drawing/2018/hyperlinkcolor" val="tx"/>
                    </a:ext>
                  </a:extLst>
                </a:hlinkClick>
              </a:rPr>
              <a:t>🔗 자료 열기: [2-2] ���� ������ ������</a:t>
            </a:r>
            <a:endParaRPr lang="en-US" sz="140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320040"/>
            <a:ext cx="11274552" cy="8229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600" b="1" dirty="0">
                <a:solidFill>
                  <a:srgbClr val="D97706"/>
                </a:solidFill>
              </a:rPr>
              <a:t>[활동 2] 글의 정보 및 내용 시각화</a:t>
            </a:r>
            <a:endParaRPr lang="en-US" sz="2600" dirty="0"/>
          </a:p>
        </p:txBody>
      </p:sp>
      <p:sp>
        <p:nvSpPr>
          <p:cNvPr id="3" name="Text 1"/>
          <p:cNvSpPr/>
          <p:nvPr/>
        </p:nvSpPr>
        <p:spPr>
          <a:xfrm>
            <a:off x="822960" y="1645920"/>
            <a:ext cx="10543032" cy="3931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342900" indent="-342900">
              <a:lnSpc>
                <a:spcPct val="125000"/>
              </a:lnSpc>
              <a:buSzPct val="100000"/>
              <a:buChar char="•"/>
            </a:pPr>
            <a:r>
              <a:rPr lang="en-US" sz="2000" dirty="0">
                <a:solidFill>
                  <a:srgbClr val="000000"/>
                </a:solidFill>
              </a:rPr>
              <a:t>글의 핵심 정보와 세부 내용 구분 및 분류</a:t>
            </a:r>
            <a:endParaRPr lang="en-US" sz="2000" dirty="0"/>
          </a:p>
          <a:p>
            <a:pPr marL="342900" indent="-342900">
              <a:lnSpc>
                <a:spcPct val="125000"/>
              </a:lnSpc>
              <a:buSzPct val="100000"/>
              <a:buChar char="•"/>
            </a:pPr>
            <a:r>
              <a:rPr lang="en-US" sz="2000" dirty="0">
                <a:solidFill>
                  <a:srgbClr val="000000"/>
                </a:solidFill>
              </a:rPr>
              <a:t>마인드맵, 비교 표, 개념도 등을 활용한 정보 구조화</a:t>
            </a:r>
            <a:endParaRPr lang="en-US" sz="2000" dirty="0"/>
          </a:p>
          <a:p>
            <a:pPr marL="342900" indent="-342900">
              <a:lnSpc>
                <a:spcPct val="125000"/>
              </a:lnSpc>
              <a:buSzPct val="100000"/>
              <a:buChar char="•"/>
            </a:pPr>
            <a:r>
              <a:rPr lang="en-US" sz="2000" dirty="0">
                <a:solidFill>
                  <a:srgbClr val="000000"/>
                </a:solidFill>
              </a:rPr>
              <a:t>시각적 자료 생성을 통해 글의 전체적인 흐름 한눈에 파악</a:t>
            </a:r>
            <a:endParaRPr lang="en-US" sz="2000" dirty="0"/>
          </a:p>
        </p:txBody>
      </p:sp>
      <p:sp>
        <p:nvSpPr>
          <p:cNvPr id="4" name="Text 2"/>
          <p:cNvSpPr/>
          <p:nvPr/>
        </p:nvSpPr>
        <p:spPr>
          <a:xfrm>
            <a:off x="822960" y="6126480"/>
            <a:ext cx="10543032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u="sng" dirty="0">
                <a:solidFill>
                  <a:srgbClr val="1155CC"/>
                </a:solidFill>
                <a:hlinkClick r:id="rId1" invalidUrl="" action="" tgtFrame="" tooltip="" history="1" highlightClick="0" endSnd="0">
                  <a:extLst>
                    <a:ext uri="{A12FA001-AC4F-418D-AE19-62706E023703}">
                      <ahyp:hlinkClr xmlns:ahyp="http://schemas.microsoft.com/office/drawing/2018/hyperlinkcolor" val="tx"/>
                    </a:ext>
                  </a:extLst>
                </a:hlinkClick>
              </a:rPr>
              <a:t>🔗 자료 열기: [2-7] �Ĺ� ���� ������ �ð�ȭ�ϱ�</a:t>
            </a:r>
            <a:endParaRPr lang="en-US" sz="140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320040"/>
            <a:ext cx="11274552" cy="8229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600" b="1" dirty="0">
                <a:solidFill>
                  <a:srgbClr val="D97706"/>
                </a:solidFill>
              </a:rPr>
              <a:t>[활동 3] 글의 의미 및 주제 깊이 있게 해석하기</a:t>
            </a:r>
            <a:endParaRPr lang="en-US" sz="2600" dirty="0"/>
          </a:p>
        </p:txBody>
      </p:sp>
      <p:sp>
        <p:nvSpPr>
          <p:cNvPr id="3" name="Text 1"/>
          <p:cNvSpPr/>
          <p:nvPr/>
        </p:nvSpPr>
        <p:spPr>
          <a:xfrm>
            <a:off x="822960" y="1645920"/>
            <a:ext cx="10543032" cy="3931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342900" indent="-342900">
              <a:lnSpc>
                <a:spcPct val="125000"/>
              </a:lnSpc>
              <a:buSzPct val="100000"/>
              <a:buChar char="•"/>
            </a:pPr>
            <a:r>
              <a:rPr lang="en-US" sz="2000" dirty="0">
                <a:solidFill>
                  <a:srgbClr val="000000"/>
                </a:solidFill>
              </a:rPr>
              <a:t>글쓴이의 관점, 의도, 태도를 추론하며 읽기</a:t>
            </a:r>
            <a:endParaRPr lang="en-US" sz="2000" dirty="0"/>
          </a:p>
          <a:p>
            <a:pPr marL="342900" indent="-342900">
              <a:lnSpc>
                <a:spcPct val="125000"/>
              </a:lnSpc>
              <a:buSzPct val="100000"/>
              <a:buChar char="•"/>
            </a:pPr>
            <a:r>
              <a:rPr lang="en-US" sz="2000" dirty="0">
                <a:solidFill>
                  <a:srgbClr val="000000"/>
                </a:solidFill>
              </a:rPr>
              <a:t>사회·문화적 맥락을 고려한 글의 implicit 의미 해석</a:t>
            </a:r>
            <a:endParaRPr lang="en-US" sz="2000" dirty="0"/>
          </a:p>
          <a:p>
            <a:pPr marL="342900" indent="-342900">
              <a:lnSpc>
                <a:spcPct val="125000"/>
              </a:lnSpc>
              <a:buSzPct val="100000"/>
              <a:buChar char="•"/>
            </a:pPr>
            <a:r>
              <a:rPr lang="en-US" sz="2000" dirty="0">
                <a:solidFill>
                  <a:srgbClr val="000000"/>
                </a:solidFill>
              </a:rPr>
              <a:t>읽은 내용을 바탕으로 비판적 사고 및 나의 견해 정리</a:t>
            </a:r>
            <a:endParaRPr lang="en-US" sz="2000" dirty="0"/>
          </a:p>
        </p:txBody>
      </p:sp>
      <p:sp>
        <p:nvSpPr>
          <p:cNvPr id="4" name="Text 2"/>
          <p:cNvSpPr/>
          <p:nvPr/>
        </p:nvSpPr>
        <p:spPr>
          <a:xfrm>
            <a:off x="822960" y="6126480"/>
            <a:ext cx="10543032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u="sng" dirty="0">
                <a:solidFill>
                  <a:srgbClr val="1155CC"/>
                </a:solidFill>
                <a:hlinkClick r:id="rId1" invalidUrl="" action="" tgtFrame="" tooltip="" history="1" highlightClick="0" endSnd="0">
                  <a:extLst>
                    <a:ext uri="{A12FA001-AC4F-418D-AE19-62706E023703}">
                      <ahyp:hlinkClr xmlns:ahyp="http://schemas.microsoft.com/office/drawing/2018/hyperlinkcolor" val="tx"/>
                    </a:ext>
                  </a:extLst>
                </a:hlinkClick>
              </a:rPr>
              <a:t>🔗 자료 열기: [2-8] �Ĺ� ���� ������ �ؼ��ϱ�</a:t>
            </a:r>
            <a:endParaRPr lang="en-US" sz="1400"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320040"/>
            <a:ext cx="11274552" cy="8229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600" b="1" dirty="0">
                <a:solidFill>
                  <a:srgbClr val="D97706"/>
                </a:solidFill>
              </a:rPr>
              <a:t>학습 정리 및 종합</a:t>
            </a:r>
            <a:endParaRPr lang="en-US" sz="2600" dirty="0"/>
          </a:p>
        </p:txBody>
      </p:sp>
      <p:sp>
        <p:nvSpPr>
          <p:cNvPr id="3" name="Text 1"/>
          <p:cNvSpPr/>
          <p:nvPr/>
        </p:nvSpPr>
        <p:spPr>
          <a:xfrm>
            <a:off x="822960" y="1920240"/>
            <a:ext cx="10543032" cy="3657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35000"/>
              </a:lnSpc>
              <a:buNone/>
            </a:pPr>
            <a:r>
              <a:rPr lang="en-US" sz="2400" b="1" dirty="0">
                <a:solidFill>
                  <a:srgbClr val="D97706"/>
                </a:solidFill>
              </a:rPr>
              <a:t>어휘 분석, 정보 시각화, 비판적 해석의 과정을 거쳐 글을 깊이 있게 이해하고 능동적인 독서 태도를 갖출 수 있습니다.</a:t>
            </a:r>
            <a:endParaRPr lang="en-US" sz="24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7</Slides>
  <Notes>7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7</vt:i4>
      </vt:variant>
    </vt:vector>
  </HeadingPairs>
  <TitlesOfParts>
    <vt:vector size="10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  <vt:lpstr>Slide 7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PptxGenJS Presentation</dc:title>
  <dc:subject>PptxGenJS Presentation</dc:subject>
  <dc:creator>PptxGenJS</dc:creator>
  <cp:lastModifiedBy>PptxGenJS</cp:lastModifiedBy>
  <cp:revision>1</cp:revision>
  <dcterms:created xsi:type="dcterms:W3CDTF">2026-08-05T14:17:03Z</dcterms:created>
  <dcterms:modified xsi:type="dcterms:W3CDTF">2026-08-05T14:17:03Z</dcterms:modified>
</cp:coreProperties>
</file>