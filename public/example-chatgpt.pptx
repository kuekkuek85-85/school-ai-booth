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sai.software.kr/_static/contents/2023middle/video.html?url=03/01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143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1325880" cy="384048"/>
          </a:xfrm>
          <a:prstGeom prst="roundRect">
            <a:avLst/>
          </a:prstGeom>
          <a:solidFill>
            <a:srgbClr val="F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143E31"/>
                </a:solidFill>
                <a:latin typeface="Malgun Gothic"/>
              </a:rPr>
              <a:t>교사용 강의 자료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6537960" cy="1417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S.O.S
세계수를 구하라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2944368"/>
            <a:ext cx="63093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2000" b="0">
                <a:solidFill>
                  <a:srgbClr val="D6EDE1"/>
                </a:solidFill>
                <a:latin typeface="Malgun Gothic"/>
              </a:rPr>
              <a:t>소리 데이터에서 시작하는 인공지능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977639"/>
            <a:ext cx="6537960" cy="1536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201168" rIns="201168" bIns="201168" rtlCol="0" anchor="ctr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43E31"/>
                </a:solidFill>
                <a:latin typeface="Malgun Gothic"/>
              </a:rPr>
              <a:t>성취기준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20" b="0">
                <a:solidFill>
                  <a:srgbClr val="263038"/>
                </a:solidFill>
                <a:latin typeface="Malgun Gothic"/>
              </a:rPr>
              <a:t>• 9정02-01  실생활 데이터를 디지털 형태로 표현하고 활용 가치를 탐색한다.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20" b="0">
                <a:solidFill>
                  <a:srgbClr val="263038"/>
                </a:solidFill>
                <a:latin typeface="Malgun Gothic"/>
              </a:rPr>
              <a:t>• 9정04-02  AI 학습에서 데이터의 중요성을 이해하고, 데이터를 수집·분류한다.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916168"/>
            <a:ext cx="626364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250" b="0">
                <a:solidFill>
                  <a:srgbClr val="D6EDE1"/>
                </a:solidFill>
                <a:latin typeface="Malgun Gothic"/>
              </a:rPr>
              <a:t>단원 · 데이터의 디지털 표현 × 인공지능과 데이터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95206" y="3289554"/>
            <a:ext cx="595274" cy="1913382"/>
          </a:xfrm>
          <a:prstGeom prst="roundRect">
            <a:avLst/>
          </a:prstGeom>
          <a:solidFill>
            <a:srgbClr val="835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70798" y="2722626"/>
            <a:ext cx="1417320" cy="1417320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78670" y="2339949"/>
            <a:ext cx="1488186" cy="1488186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38513" y="1517904"/>
            <a:ext cx="1587398" cy="1587398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946386" y="2864358"/>
            <a:ext cx="1204722" cy="1204722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45602" y="3289554"/>
            <a:ext cx="1275588" cy="1275588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705441" y="3573018"/>
            <a:ext cx="1020470" cy="1020470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484967" y="1305306"/>
            <a:ext cx="878738" cy="878738"/>
          </a:xfrm>
          <a:prstGeom prst="ellipse">
            <a:avLst/>
          </a:prstGeom>
          <a:solidFill>
            <a:srgbClr val="C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55" b="1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4846320"/>
            <a:ext cx="3154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800" b="1">
                <a:solidFill>
                  <a:srgbClr val="143E31"/>
                </a:solidFill>
                <a:latin typeface="Malgun Gothic"/>
              </a:rPr>
              <a:t>“세계수의 소리를
AI가 알아들을 수 있을까?”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30768" y="5779008"/>
            <a:ext cx="27432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0">
                <a:solidFill>
                  <a:srgbClr val="65747F"/>
                </a:solidFill>
                <a:latin typeface="Malgun Gothic"/>
              </a:rPr>
              <a:t>중학교 정보 · 데이터와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56692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56032"/>
            <a:ext cx="104241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2700" b="1">
                <a:solidFill>
                  <a:srgbClr val="143E31"/>
                </a:solidFill>
                <a:latin typeface="Malgun Gothic"/>
              </a:rPr>
              <a:t>오늘의 수업 흐름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185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50" b="0">
                <a:solidFill>
                  <a:srgbClr val="65747F"/>
                </a:solidFill>
                <a:latin typeface="Malgun Gothic"/>
              </a:rPr>
              <a:t>소리를 데이터로 바꾸고, AI가 학습하는 과정을 연결해 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33856"/>
            <a:ext cx="11018520" cy="22860"/>
          </a:xfrm>
          <a:prstGeom prst="rect">
            <a:avLst/>
          </a:prstGeom>
          <a:solidFill>
            <a:srgbClr val="E6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64208"/>
            <a:ext cx="31546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41832" y="1920240"/>
            <a:ext cx="65836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2542032"/>
            <a:ext cx="265176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2200" b="1">
                <a:solidFill>
                  <a:srgbClr val="143E31"/>
                </a:solidFill>
                <a:latin typeface="Malgun Gothic"/>
              </a:rPr>
              <a:t>문제 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3182112"/>
            <a:ext cx="2578608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600" b="0">
                <a:solidFill>
                  <a:srgbClr val="263038"/>
                </a:solidFill>
                <a:latin typeface="Malgun Gothic"/>
              </a:rPr>
              <a:t>세계수가 보내는 소리를
컴퓨터가 이해하려면?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16948" y="5366613"/>
            <a:ext cx="314919" cy="1012240"/>
          </a:xfrm>
          <a:prstGeom prst="roundRect">
            <a:avLst/>
          </a:prstGeom>
          <a:solidFill>
            <a:srgbClr val="835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639519" y="5066690"/>
            <a:ext cx="749808" cy="749808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066909" y="4864242"/>
            <a:ext cx="787298" cy="787298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886955" y="4429353"/>
            <a:ext cx="839784" cy="839784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314346" y="5141671"/>
            <a:ext cx="637336" cy="637336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14576" y="5366613"/>
            <a:ext cx="674827" cy="674827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86879" y="5516575"/>
            <a:ext cx="539861" cy="539861"/>
          </a:xfrm>
          <a:prstGeom prst="ellipse">
            <a:avLst/>
          </a:prstGeom>
          <a:solidFill>
            <a:srgbClr val="5F8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99273" y="4316882"/>
            <a:ext cx="464880" cy="464880"/>
          </a:xfrm>
          <a:prstGeom prst="ellipse">
            <a:avLst/>
          </a:prstGeom>
          <a:solidFill>
            <a:srgbClr val="C6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22" b="1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1664208"/>
            <a:ext cx="31546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16552" y="1920240"/>
            <a:ext cx="65836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16552" y="2542032"/>
            <a:ext cx="265176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2200" b="1">
                <a:solidFill>
                  <a:srgbClr val="143E31"/>
                </a:solidFill>
                <a:latin typeface="Malgun Gothic"/>
              </a:rPr>
              <a:t>핵심 활동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3182112"/>
            <a:ext cx="2578608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600" b="0">
                <a:solidFill>
                  <a:srgbClr val="263038"/>
                </a:solidFill>
                <a:latin typeface="Malgun Gothic"/>
              </a:rPr>
              <a:t>인공지능 소리 인식의 원리
소리 → 데이터 → 분류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63440" y="4960620"/>
            <a:ext cx="2148839" cy="0"/>
          </a:xfrm>
          <a:prstGeom prst="line">
            <a:avLst/>
          </a:prstGeom>
          <a:ln w="12700">
            <a:solidFill>
              <a:srgbClr val="E6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663440" y="4870666"/>
            <a:ext cx="52410" cy="8995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715850" y="4819659"/>
            <a:ext cx="52411" cy="5100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68261" y="4819659"/>
            <a:ext cx="52411" cy="3582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820672" y="4855483"/>
            <a:ext cx="52410" cy="11268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73082" y="4968164"/>
            <a:ext cx="52411" cy="11978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925493" y="5087949"/>
            <a:ext cx="52411" cy="4507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977904" y="5071300"/>
            <a:ext cx="52411" cy="6172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30315" y="4945501"/>
            <a:ext cx="52410" cy="12579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82725" y="4840462"/>
            <a:ext cx="52411" cy="10503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135136" y="4819719"/>
            <a:ext cx="52411" cy="2074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87547" y="4819719"/>
            <a:ext cx="52411" cy="6331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39958" y="4883033"/>
            <a:ext cx="52410" cy="9276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292368" y="4975801"/>
            <a:ext cx="52411" cy="6049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344779" y="5036299"/>
            <a:ext cx="52411" cy="205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97190" y="4998310"/>
            <a:ext cx="52410" cy="4004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449600" y="4950519"/>
            <a:ext cx="52411" cy="4779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502011" y="4920223"/>
            <a:ext cx="52411" cy="3029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554422" y="4915500"/>
            <a:ext cx="52411" cy="472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606833" y="4915500"/>
            <a:ext cx="52410" cy="1941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59243" y="4934910"/>
            <a:ext cx="52411" cy="3796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11654" y="4972874"/>
            <a:ext cx="52411" cy="4204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764065" y="5014918"/>
            <a:ext cx="52411" cy="1951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816476" y="5006049"/>
            <a:ext cx="52410" cy="2838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68886" y="4931337"/>
            <a:ext cx="52411" cy="7471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921297" y="4851779"/>
            <a:ext cx="52411" cy="7955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973708" y="4827495"/>
            <a:ext cx="52411" cy="2428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026119" y="4827495"/>
            <a:ext cx="52410" cy="6328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78529" y="4890779"/>
            <a:ext cx="52411" cy="12144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130940" y="5012228"/>
            <a:ext cx="52411" cy="10132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183351" y="5113553"/>
            <a:ext cx="52410" cy="967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6235761" y="5031873"/>
            <a:ext cx="52411" cy="9135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288172" y="4901083"/>
            <a:ext cx="52411" cy="13079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340583" y="4817207"/>
            <a:ext cx="52411" cy="8387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392994" y="4817207"/>
            <a:ext cx="52410" cy="1074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445404" y="4827947"/>
            <a:ext cx="52411" cy="8461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497815" y="4912557"/>
            <a:ext cx="52411" cy="9324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550226" y="5005798"/>
            <a:ext cx="52411" cy="4462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602637" y="5033535"/>
            <a:ext cx="52410" cy="1689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655047" y="4982760"/>
            <a:ext cx="52411" cy="5077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707458" y="4935654"/>
            <a:ext cx="52411" cy="4710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759869" y="4913840"/>
            <a:ext cx="52410" cy="2181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4800600" y="5376672"/>
            <a:ext cx="1874519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4976AB"/>
                </a:solidFill>
                <a:latin typeface="Malgun Gothic"/>
              </a:rPr>
              <a:t>파형 · 특징 · 분류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35240" y="1664208"/>
            <a:ext cx="3154680" cy="4069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891271" y="1920240"/>
            <a:ext cx="65836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91271" y="2542032"/>
            <a:ext cx="2651760" cy="4754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2200" b="1">
                <a:solidFill>
                  <a:srgbClr val="143E31"/>
                </a:solidFill>
                <a:latin typeface="Malgun Gothic"/>
              </a:rPr>
              <a:t>핵심 정리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91271" y="3182112"/>
            <a:ext cx="2578608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600" b="0">
                <a:solidFill>
                  <a:srgbClr val="263038"/>
                </a:solidFill>
                <a:latin typeface="Malgun Gothic"/>
              </a:rPr>
              <a:t>좋은 데이터가
좋은 인공지능을 만든다</a:t>
            </a:r>
          </a:p>
        </p:txBody>
      </p:sp>
      <p:sp>
        <p:nvSpPr>
          <p:cNvPr id="70" name="Oval 69"/>
          <p:cNvSpPr/>
          <p:nvPr/>
        </p:nvSpPr>
        <p:spPr>
          <a:xfrm>
            <a:off x="8028431" y="4572000"/>
            <a:ext cx="658368" cy="658368"/>
          </a:xfrm>
          <a:prstGeom prst="ellipse">
            <a:avLst/>
          </a:prstGeom>
          <a:solidFill>
            <a:srgbClr val="D6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3E31"/>
                </a:solidFill>
                <a:latin typeface="Malgun Gothic"/>
              </a:rPr>
              <a:t>수집</a:t>
            </a:r>
          </a:p>
        </p:txBody>
      </p:sp>
      <p:sp>
        <p:nvSpPr>
          <p:cNvPr id="71" name="Oval 70"/>
          <p:cNvSpPr/>
          <p:nvPr/>
        </p:nvSpPr>
        <p:spPr>
          <a:xfrm>
            <a:off x="8851392" y="4572000"/>
            <a:ext cx="658368" cy="658368"/>
          </a:xfrm>
          <a:prstGeom prst="ellipse">
            <a:avLst/>
          </a:prstGeom>
          <a:solidFill>
            <a:srgbClr val="DC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3E31"/>
                </a:solidFill>
                <a:latin typeface="Malgun Gothic"/>
              </a:rPr>
              <a:t>표현</a:t>
            </a:r>
          </a:p>
        </p:txBody>
      </p:sp>
      <p:sp>
        <p:nvSpPr>
          <p:cNvPr id="72" name="Oval 71"/>
          <p:cNvSpPr/>
          <p:nvPr/>
        </p:nvSpPr>
        <p:spPr>
          <a:xfrm>
            <a:off x="9674352" y="4572000"/>
            <a:ext cx="658368" cy="658368"/>
          </a:xfrm>
          <a:prstGeom prst="ellipse">
            <a:avLst/>
          </a:prstGeom>
          <a:solidFill>
            <a:srgbClr val="FCE7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3E31"/>
                </a:solidFill>
                <a:latin typeface="Malgun Gothic"/>
              </a:rPr>
              <a:t>분류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714232" y="4901184"/>
            <a:ext cx="118872" cy="0"/>
          </a:xfrm>
          <a:prstGeom prst="line">
            <a:avLst/>
          </a:prstGeom>
          <a:ln w="27940">
            <a:solidFill>
              <a:srgbClr val="1F5C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537192" y="4901184"/>
            <a:ext cx="118871" cy="0"/>
          </a:xfrm>
          <a:prstGeom prst="line">
            <a:avLst/>
          </a:prstGeom>
          <a:ln w="27940">
            <a:solidFill>
              <a:srgbClr val="1F5C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950" b="0">
                <a:solidFill>
                  <a:srgbClr val="65747F"/>
                </a:solidFill>
                <a:latin typeface="Malgun Gothic"/>
              </a:rPr>
              <a:t>S.O.S 세계수를 구하라 · 중학교 정보 교사용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09960" y="6473952"/>
            <a:ext cx="502920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r"/>
            <a:r>
              <a:rPr sz="1000" b="1">
                <a:solidFill>
                  <a:srgbClr val="1F5C48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56692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56032"/>
            <a:ext cx="104241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2700" b="1">
                <a:solidFill>
                  <a:srgbClr val="143E31"/>
                </a:solidFill>
                <a:latin typeface="Malgun Gothic"/>
              </a:rPr>
              <a:t>동기유발 · 세계수가 보내는 구조 신호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185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50" b="0">
                <a:solidFill>
                  <a:srgbClr val="65747F"/>
                </a:solidFill>
                <a:latin typeface="Malgun Gothic"/>
              </a:rPr>
              <a:t>학생의 경험을 소리 데이터와 인공지능 문제로 연결합니다.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33856"/>
            <a:ext cx="11018520" cy="22860"/>
          </a:xfrm>
          <a:prstGeom prst="rect">
            <a:avLst/>
          </a:prstGeom>
          <a:solidFill>
            <a:srgbClr val="E6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6995160" cy="4407408"/>
          </a:xfrm>
          <a:prstGeom prst="roundRect">
            <a:avLst/>
          </a:prstGeom>
          <a:solidFill>
            <a:srgbClr val="143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783080"/>
            <a:ext cx="6355080" cy="438912"/>
          </a:xfrm>
          <a:prstGeom prst="roundRect">
            <a:avLst/>
          </a:prstGeom>
          <a:solidFill>
            <a:srgbClr val="F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143E31"/>
                </a:solidFill>
                <a:latin typeface="Malgun Gothic"/>
              </a:rPr>
              <a:t>S.O.S 미션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395728"/>
            <a:ext cx="6263640" cy="10789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세계수가 바람·동물·위험 신호를
서로 다른 소리로 보내고 있습니다.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2" y="4283964"/>
            <a:ext cx="5440680" cy="0"/>
          </a:xfrm>
          <a:prstGeom prst="line">
            <a:avLst/>
          </a:prstGeom>
          <a:ln w="12700">
            <a:solidFill>
              <a:srgbClr val="E6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53312" y="4158028"/>
            <a:ext cx="132699" cy="125936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486011" y="4086619"/>
            <a:ext cx="132700" cy="7140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618711" y="4086619"/>
            <a:ext cx="132699" cy="50153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51410" y="4136772"/>
            <a:ext cx="132700" cy="157754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884110" y="4294526"/>
            <a:ext cx="132699" cy="16769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16809" y="4462225"/>
            <a:ext cx="132700" cy="63111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49509" y="4438917"/>
            <a:ext cx="132699" cy="8641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82208" y="4262798"/>
            <a:ext cx="132700" cy="17611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14908" y="4115743"/>
            <a:ext cx="132699" cy="147055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547607" y="4086703"/>
            <a:ext cx="132700" cy="29040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80307" y="4086703"/>
            <a:ext cx="132699" cy="88640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13006" y="4175343"/>
            <a:ext cx="132700" cy="129875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945706" y="4305218"/>
            <a:ext cx="132699" cy="8469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078405" y="4389915"/>
            <a:ext cx="132700" cy="2882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211105" y="4336730"/>
            <a:ext cx="132699" cy="5606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343804" y="4269823"/>
            <a:ext cx="132700" cy="6690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76504" y="4227409"/>
            <a:ext cx="132699" cy="42414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609203" y="4220796"/>
            <a:ext cx="132700" cy="6613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741903" y="4220796"/>
            <a:ext cx="132699" cy="27174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4602" y="4247970"/>
            <a:ext cx="132700" cy="53150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7302" y="4301120"/>
            <a:ext cx="132699" cy="58861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40001" y="4359981"/>
            <a:ext cx="132700" cy="27325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272701" y="4347564"/>
            <a:ext cx="132699" cy="39742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405400" y="4242969"/>
            <a:ext cx="132700" cy="104595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538100" y="4131586"/>
            <a:ext cx="132699" cy="111383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70799" y="4097589"/>
            <a:ext cx="132700" cy="3399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03499" y="4097589"/>
            <a:ext cx="132699" cy="88598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936198" y="4186187"/>
            <a:ext cx="132700" cy="170028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068898" y="4356215"/>
            <a:ext cx="132699" cy="141855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01597" y="4498070"/>
            <a:ext cx="132700" cy="13541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334297" y="4383719"/>
            <a:ext cx="132699" cy="127892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466996" y="4200613"/>
            <a:ext cx="132700" cy="183106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599696" y="4083186"/>
            <a:ext cx="132699" cy="11742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732395" y="4083186"/>
            <a:ext cx="132700" cy="15036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65095" y="4098222"/>
            <a:ext cx="132699" cy="118454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997794" y="4216676"/>
            <a:ext cx="132700" cy="13053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130494" y="4347213"/>
            <a:ext cx="132699" cy="6247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6263193" y="4386045"/>
            <a:ext cx="132700" cy="23647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395893" y="4314961"/>
            <a:ext cx="132699" cy="71084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528592" y="4249011"/>
            <a:ext cx="132700" cy="65950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6661292" y="4218472"/>
            <a:ext cx="132700" cy="30539"/>
          </a:xfrm>
          <a:prstGeom prst="line">
            <a:avLst/>
          </a:prstGeom>
          <a:ln w="25400">
            <a:solidFill>
              <a:srgbClr val="7ED1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207008" y="4956048"/>
            <a:ext cx="5715000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0">
                <a:solidFill>
                  <a:srgbClr val="D6EDE1"/>
                </a:solidFill>
                <a:latin typeface="Malgun Gothic"/>
              </a:rPr>
              <a:t>컴퓨터가 이 소리를 “듣고 구별”하게 하려면
무엇이 필요할까요?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3568" y="1572768"/>
            <a:ext cx="354787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183879" y="1783080"/>
            <a:ext cx="502920" cy="502920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51392" y="1691640"/>
            <a:ext cx="2395728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550" b="1">
                <a:solidFill>
                  <a:srgbClr val="263038"/>
                </a:solidFill>
                <a:latin typeface="Malgun Gothic"/>
              </a:rPr>
              <a:t>컴퓨터는 소리를
그대로 들을 수 있을까?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73568" y="3017520"/>
            <a:ext cx="354787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183879" y="3227832"/>
            <a:ext cx="502920" cy="502920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51392" y="3136391"/>
            <a:ext cx="2395728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550" b="1">
                <a:solidFill>
                  <a:srgbClr val="263038"/>
                </a:solidFill>
                <a:latin typeface="Malgun Gothic"/>
              </a:rPr>
              <a:t>같은 소리도 사람마다
다르게 녹음되면?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73568" y="4462272"/>
            <a:ext cx="3547872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8183879" y="4672584"/>
            <a:ext cx="502920" cy="502920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③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51392" y="4581144"/>
            <a:ext cx="2395728" cy="7772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550" b="1">
                <a:solidFill>
                  <a:srgbClr val="263038"/>
                </a:solidFill>
                <a:latin typeface="Malgun Gothic"/>
              </a:rPr>
              <a:t>AI가 구별하려면
어떤 데이터가 필요할까?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01000" y="5650992"/>
            <a:ext cx="3438144" cy="338328"/>
          </a:xfrm>
          <a:prstGeom prst="round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00" b="1">
                <a:solidFill>
                  <a:srgbClr val="1F5C48"/>
                </a:solidFill>
                <a:latin typeface="Malgun Gothic"/>
              </a:rPr>
              <a:t>생각 → 짝 토의 → 전체 공유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950" b="0">
                <a:solidFill>
                  <a:srgbClr val="65747F"/>
                </a:solidFill>
                <a:latin typeface="Malgun Gothic"/>
              </a:rPr>
              <a:t>S.O.S 세계수를 구하라 · 중학교 정보 교사용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109960" y="6473952"/>
            <a:ext cx="502920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r"/>
            <a:r>
              <a:rPr sz="1000" b="1">
                <a:solidFill>
                  <a:srgbClr val="1F5C48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56692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56032"/>
            <a:ext cx="104241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2700" b="1">
                <a:solidFill>
                  <a:srgbClr val="143E31"/>
                </a:solidFill>
                <a:latin typeface="Malgun Gothic"/>
              </a:rPr>
              <a:t>[3-1] 인공지능 소리인식의 원리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185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50" b="0">
                <a:solidFill>
                  <a:srgbClr val="65747F"/>
                </a:solidFill>
                <a:latin typeface="Malgun Gothic"/>
              </a:rPr>
              <a:t>컴퓨터가 소리를 듣는 방법 · 활동 링크는 슬라이드 하단에서 클릭할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33856"/>
            <a:ext cx="11018520" cy="22860"/>
          </a:xfrm>
          <a:prstGeom prst="rect">
            <a:avLst/>
          </a:prstGeom>
          <a:solidFill>
            <a:srgbClr val="E6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4892040" cy="4453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56032" tIns="256032" rIns="256032" bIns="256032" rtlCol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43E31"/>
                </a:solidFill>
                <a:latin typeface="Malgun Gothic"/>
              </a:rPr>
              <a:t>소리의 디지털 변환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0">
                <a:solidFill>
                  <a:srgbClr val="263038"/>
                </a:solidFill>
                <a:latin typeface="Malgun Gothic"/>
              </a:rPr>
              <a:t>• 마이크가 소리의 진동을 전기 신호로 바꾸고, 일정한 간격으로 값을 측정하여 디지털 데이터로 표현합니다.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43E31"/>
                </a:solidFill>
                <a:latin typeface="Malgun Gothic"/>
              </a:rPr>
              <a:t>소리의 특징 추출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450" b="0">
                <a:solidFill>
                  <a:srgbClr val="263038"/>
                </a:solidFill>
                <a:latin typeface="Malgun Gothic"/>
              </a:rPr>
              <a:t>• AI는 파형·높낮이·세기·주파수 같은 특징을 찾아 서로 다른 소리를 비교합니다.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43E31"/>
                </a:solidFill>
                <a:latin typeface="Malgun Gothic"/>
              </a:rPr>
              <a:t>데이터 학습과 분류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>
                <a:solidFill>
                  <a:srgbClr val="263038"/>
                </a:solidFill>
                <a:latin typeface="Malgun Gothic"/>
              </a:rPr>
              <a:t>• 다양하고 정확하게 분류된 소리 데이터가 많을수록 새로운 소리를 더 안정적으로 판단할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1444752"/>
            <a:ext cx="5650992" cy="384048"/>
          </a:xfrm>
          <a:prstGeom prst="round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700" b="1">
                <a:solidFill>
                  <a:srgbClr val="143E31"/>
                </a:solidFill>
                <a:latin typeface="Malgun Gothic"/>
              </a:rPr>
              <a:t>컴퓨터가 소리를 “듣는” 과정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084831"/>
            <a:ext cx="1170432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81928" y="2249424"/>
            <a:ext cx="493776" cy="402336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53328" y="2788920"/>
            <a:ext cx="950976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50" b="1">
                <a:solidFill>
                  <a:srgbClr val="143E31"/>
                </a:solidFill>
                <a:latin typeface="Malgun Gothic"/>
              </a:rPr>
              <a:t>소리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3236976"/>
            <a:ext cx="950976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0">
                <a:solidFill>
                  <a:srgbClr val="65747F"/>
                </a:solidFill>
                <a:latin typeface="Malgun Gothic"/>
              </a:rPr>
              <a:t>공기의 진동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2084831"/>
            <a:ext cx="1170432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71815" y="2249424"/>
            <a:ext cx="493776" cy="402336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43215" y="2788920"/>
            <a:ext cx="950976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50" b="1">
                <a:solidFill>
                  <a:srgbClr val="143E31"/>
                </a:solidFill>
                <a:latin typeface="Malgun Gothic"/>
              </a:rPr>
              <a:t>디지털화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43215" y="3236976"/>
            <a:ext cx="950976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0">
                <a:solidFill>
                  <a:srgbClr val="65747F"/>
                </a:solidFill>
                <a:latin typeface="Malgun Gothic"/>
              </a:rPr>
              <a:t>숫자 데이터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2084831"/>
            <a:ext cx="1170432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061703" y="2249424"/>
            <a:ext cx="493776" cy="402336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33103" y="2788920"/>
            <a:ext cx="950976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50" b="1">
                <a:solidFill>
                  <a:srgbClr val="143E31"/>
                </a:solidFill>
                <a:latin typeface="Malgun Gothic"/>
              </a:rPr>
              <a:t>특징 추출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33103" y="3236976"/>
            <a:ext cx="950976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0">
                <a:solidFill>
                  <a:srgbClr val="65747F"/>
                </a:solidFill>
                <a:latin typeface="Malgun Gothic"/>
              </a:rPr>
              <a:t>파형·주파수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13264" y="2084831"/>
            <a:ext cx="1170432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51592" y="2249424"/>
            <a:ext cx="493776" cy="402336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22992" y="2788920"/>
            <a:ext cx="950976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50" b="1">
                <a:solidFill>
                  <a:srgbClr val="143E31"/>
                </a:solidFill>
                <a:latin typeface="Malgun Gothic"/>
              </a:rPr>
              <a:t>AI 분류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22992" y="3236976"/>
            <a:ext cx="950976" cy="4937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50" b="0">
                <a:solidFill>
                  <a:srgbClr val="65747F"/>
                </a:solidFill>
                <a:latin typeface="Malgun Gothic"/>
              </a:rPr>
              <a:t>소리 이름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14032" y="3072384"/>
            <a:ext cx="164592" cy="0"/>
          </a:xfrm>
          <a:prstGeom prst="line">
            <a:avLst/>
          </a:prstGeom>
          <a:ln w="27940">
            <a:solidFill>
              <a:srgbClr val="1F5C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503920" y="3072384"/>
            <a:ext cx="164592" cy="0"/>
          </a:xfrm>
          <a:prstGeom prst="line">
            <a:avLst/>
          </a:prstGeom>
          <a:ln w="27940">
            <a:solidFill>
              <a:srgbClr val="1F5C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93808" y="3072384"/>
            <a:ext cx="164592" cy="0"/>
          </a:xfrm>
          <a:prstGeom prst="line">
            <a:avLst/>
          </a:prstGeom>
          <a:ln w="27940">
            <a:solidFill>
              <a:srgbClr val="1F5C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153912" y="4677156"/>
            <a:ext cx="3218688" cy="0"/>
          </a:xfrm>
          <a:prstGeom prst="line">
            <a:avLst/>
          </a:prstGeom>
          <a:ln w="12700">
            <a:solidFill>
              <a:srgbClr val="E6EA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153912" y="4596797"/>
            <a:ext cx="78504" cy="8035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232416" y="4551231"/>
            <a:ext cx="78505" cy="4556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310921" y="4551231"/>
            <a:ext cx="78504" cy="3200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89425" y="4583233"/>
            <a:ext cx="78505" cy="10066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67930" y="4683896"/>
            <a:ext cx="78504" cy="10700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546434" y="4790903"/>
            <a:ext cx="78505" cy="4027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24939" y="4776031"/>
            <a:ext cx="78505" cy="5514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703444" y="4663650"/>
            <a:ext cx="78504" cy="112381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781948" y="4569815"/>
            <a:ext cx="78505" cy="9383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860453" y="4551285"/>
            <a:ext cx="78504" cy="1853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38957" y="4551285"/>
            <a:ext cx="78505" cy="5656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17462" y="4607845"/>
            <a:ext cx="78505" cy="8287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095967" y="4690718"/>
            <a:ext cx="78504" cy="5404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174471" y="4744762"/>
            <a:ext cx="78505" cy="184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252976" y="4710826"/>
            <a:ext cx="78504" cy="3577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7331480" y="4668133"/>
            <a:ext cx="78505" cy="4269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409985" y="4641068"/>
            <a:ext cx="78504" cy="2706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488489" y="4636849"/>
            <a:ext cx="78505" cy="421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66994" y="4636849"/>
            <a:ext cx="78505" cy="1734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45499" y="4654189"/>
            <a:ext cx="78504" cy="3391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724003" y="4688103"/>
            <a:ext cx="78505" cy="3755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802508" y="4725662"/>
            <a:ext cx="78504" cy="1743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881012" y="4717739"/>
            <a:ext cx="78505" cy="2535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959517" y="4650997"/>
            <a:ext cx="78505" cy="6674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038022" y="4579924"/>
            <a:ext cx="78504" cy="7107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8116526" y="4558231"/>
            <a:ext cx="78505" cy="21693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195031" y="4558231"/>
            <a:ext cx="78504" cy="5653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273535" y="4614765"/>
            <a:ext cx="78505" cy="10849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52040" y="4723259"/>
            <a:ext cx="78504" cy="9051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430544" y="4813776"/>
            <a:ext cx="78505" cy="864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8509049" y="4740809"/>
            <a:ext cx="78505" cy="8160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587554" y="4623970"/>
            <a:ext cx="78504" cy="11683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666058" y="4549040"/>
            <a:ext cx="78505" cy="74930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744563" y="4549040"/>
            <a:ext cx="78504" cy="9595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823067" y="4558635"/>
            <a:ext cx="78505" cy="75584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901572" y="4634219"/>
            <a:ext cx="78505" cy="83296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980077" y="4717515"/>
            <a:ext cx="78504" cy="3986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9058581" y="4742293"/>
            <a:ext cx="78505" cy="15089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137086" y="4696935"/>
            <a:ext cx="78504" cy="45358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215590" y="4654853"/>
            <a:ext cx="78505" cy="42082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294095" y="4635366"/>
            <a:ext cx="78505" cy="19487"/>
          </a:xfrm>
          <a:prstGeom prst="line">
            <a:avLst/>
          </a:prstGeom>
          <a:ln w="25400">
            <a:solidFill>
              <a:srgbClr val="497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9646920" y="4251960"/>
            <a:ext cx="1581912" cy="347472"/>
          </a:xfrm>
          <a:prstGeom prst="roundRect">
            <a:avLst/>
          </a:prstGeom>
          <a:solidFill>
            <a:srgbClr val="E9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50" b="1">
                <a:solidFill>
                  <a:srgbClr val="4976AB"/>
                </a:solidFill>
                <a:latin typeface="Malgun Gothic"/>
              </a:rPr>
              <a:t>바람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46920" y="4754880"/>
            <a:ext cx="1581912" cy="347472"/>
          </a:xfrm>
          <a:prstGeom prst="round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50" b="1">
                <a:solidFill>
                  <a:srgbClr val="1F5C48"/>
                </a:solidFill>
                <a:latin typeface="Malgun Gothic"/>
              </a:rPr>
              <a:t>새소리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46920" y="5257800"/>
            <a:ext cx="1581912" cy="347472"/>
          </a:xfrm>
          <a:prstGeom prst="roundRect">
            <a:avLst/>
          </a:prstGeom>
          <a:solidFill>
            <a:srgbClr val="FA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150" b="1">
                <a:solidFill>
                  <a:srgbClr val="C64343"/>
                </a:solidFill>
                <a:latin typeface="Malgun Gothic"/>
              </a:rPr>
              <a:t>위험 신호</a:t>
            </a:r>
          </a:p>
        </p:txBody>
      </p:sp>
      <p:pic>
        <p:nvPicPr>
          <p:cNvPr id="73" name="Picture 72" descr="sos_activity_qr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056632"/>
            <a:ext cx="841248" cy="841248"/>
          </a:xfrm>
          <a:prstGeom prst="rect">
            <a:avLst/>
          </a:prstGeom>
        </p:spPr>
      </p:pic>
      <p:sp>
        <p:nvSpPr>
          <p:cNvPr id="74" name="Rounded Rectangle 73">
            <a:hlinkClick r:id="rId2"/>
          </p:cNvPr>
          <p:cNvSpPr/>
          <p:nvPr/>
        </p:nvSpPr>
        <p:spPr>
          <a:xfrm>
            <a:off x="6976872" y="5102352"/>
            <a:ext cx="4526280" cy="74980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550" b="1">
                <a:solidFill>
                  <a:srgbClr val="FFFFFF"/>
                </a:solidFill>
                <a:latin typeface="Malgun Gothic"/>
                <a:hlinkClick r:id="rId2"/>
              </a:rPr>
              <a:t>활동 영상 열기  ▶</a:t>
            </a:r>
          </a:p>
          <a:p>
            <a:pPr algn="ctr">
              <a:spcBef>
                <a:spcPts val="100"/>
              </a:spcBef>
            </a:pPr>
            <a:r>
              <a:rPr sz="950" b="0">
                <a:solidFill>
                  <a:srgbClr val="D6EDE1"/>
                </a:solidFill>
                <a:latin typeface="Malgun Gothic"/>
                <a:hlinkClick r:id="rId2"/>
              </a:rPr>
              <a:t>sai.software.kr · [3-1] 소리 인식의 원리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950" b="0">
                <a:solidFill>
                  <a:srgbClr val="65747F"/>
                </a:solidFill>
                <a:latin typeface="Malgun Gothic"/>
              </a:rPr>
              <a:t>S.O.S 세계수를 구하라 · 중학교 정보 교사용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109960" y="6473952"/>
            <a:ext cx="502920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r"/>
            <a:r>
              <a:rPr sz="1000" b="1">
                <a:solidFill>
                  <a:srgbClr val="1F5C48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566928" cy="384048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" y="256032"/>
            <a:ext cx="10424160" cy="53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2700" b="1">
                <a:solidFill>
                  <a:srgbClr val="143E31"/>
                </a:solidFill>
                <a:latin typeface="Malgun Gothic"/>
              </a:rPr>
              <a:t>마무리 · 학생에게 남길 핵심 메시지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841248"/>
            <a:ext cx="110185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1150" b="0">
                <a:solidFill>
                  <a:srgbClr val="65747F"/>
                </a:solidFill>
                <a:latin typeface="Malgun Gothic"/>
              </a:rPr>
              <a:t>성취기준을 수업 언어로 바꾸어 정리합니다.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33856"/>
            <a:ext cx="11018520" cy="22860"/>
          </a:xfrm>
          <a:prstGeom prst="rect">
            <a:avLst/>
          </a:prstGeom>
          <a:solidFill>
            <a:srgbClr val="E6EA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10972800" cy="1325880"/>
          </a:xfrm>
          <a:prstGeom prst="roundRect">
            <a:avLst/>
          </a:prstGeom>
          <a:solidFill>
            <a:srgbClr val="143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664208"/>
            <a:ext cx="1037844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300" b="1">
                <a:solidFill>
                  <a:srgbClr val="FFFFFF"/>
                </a:solidFill>
                <a:latin typeface="Malgun Gothic"/>
              </a:rPr>
              <a:t>“AI가 소리를 잘 알아듣는 힘은
소리를 숫자로 표현하고, 좋은 데이터를 모아 분류하는 데서 시작됩니다.”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090672"/>
            <a:ext cx="3438144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" y="3310128"/>
            <a:ext cx="1143000" cy="347472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9정02-01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840480"/>
            <a:ext cx="292608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900" b="1">
                <a:solidFill>
                  <a:srgbClr val="143E31"/>
                </a:solidFill>
                <a:latin typeface="Malgun Gothic"/>
              </a:rPr>
              <a:t>소리도 데이터다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4407408"/>
            <a:ext cx="29260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300" b="0">
                <a:solidFill>
                  <a:srgbClr val="263038"/>
                </a:solidFill>
                <a:latin typeface="Malgun Gothic"/>
              </a:rPr>
              <a:t>소리는 마이크와 디지털 변환 과정을 거쳐 컴퓨터가 처리할 수 있는 숫자 데이터가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90672"/>
            <a:ext cx="3438144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617720" y="3310128"/>
            <a:ext cx="1143000" cy="347472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9정04-02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840480"/>
            <a:ext cx="292608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900" b="1">
                <a:solidFill>
                  <a:srgbClr val="143E31"/>
                </a:solidFill>
                <a:latin typeface="Malgun Gothic"/>
              </a:rPr>
              <a:t>데이터가 AI를 가르친다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4407408"/>
            <a:ext cx="29260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300" b="0">
                <a:solidFill>
                  <a:srgbClr val="263038"/>
                </a:solidFill>
                <a:latin typeface="Malgun Gothic"/>
              </a:rPr>
              <a:t>다양한 상황의 소리를 충분히 수집하고 정확하게 분류해야 AI의 판단이 좋아집니다.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3090672"/>
            <a:ext cx="3438144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ED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48472" y="3310128"/>
            <a:ext cx="1143000" cy="347472"/>
          </a:xfrm>
          <a:prstGeom prst="roundRect">
            <a:avLst/>
          </a:prstGeom>
          <a:solidFill>
            <a:srgbClr val="1F5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Malgun Gothic"/>
              </a:rPr>
              <a:t>수업 실천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48472" y="3840480"/>
            <a:ext cx="2926080" cy="4206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sz="1900" b="1">
                <a:solidFill>
                  <a:srgbClr val="143E31"/>
                </a:solidFill>
                <a:latin typeface="Malgun Gothic"/>
              </a:rPr>
              <a:t>비판적으로 확인한다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48472" y="4407408"/>
            <a:ext cx="2926080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sz="1300" b="0">
                <a:solidFill>
                  <a:srgbClr val="263038"/>
                </a:solidFill>
                <a:latin typeface="Malgun Gothic"/>
              </a:rPr>
              <a:t>AI의 결과가 틀릴 수 있음을 알고, 학습 데이터의 범위와 편향을 함께 살펴봅니다.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9112" y="5669280"/>
            <a:ext cx="8092440" cy="530352"/>
          </a:xfrm>
          <a:prstGeom prst="roundRect">
            <a:avLst/>
          </a:prstGeom>
          <a:solidFill>
            <a:srgbClr val="E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550" b="1">
                <a:solidFill>
                  <a:srgbClr val="143E31"/>
                </a:solidFill>
                <a:latin typeface="Malgun Gothic"/>
              </a:rPr>
              <a:t>마지막 질문  |  “우리 반 AI에게 어떤 소리 데이터를 모아 주면 좋을까?”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519672"/>
            <a:ext cx="822960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l"/>
            <a:r>
              <a:rPr sz="950" b="0">
                <a:solidFill>
                  <a:srgbClr val="65747F"/>
                </a:solidFill>
                <a:latin typeface="Malgun Gothic"/>
              </a:rPr>
              <a:t>S.O.S 세계수를 구하라 · 중학교 정보 교사용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09960" y="6473952"/>
            <a:ext cx="502920" cy="2468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r"/>
            <a:r>
              <a:rPr sz="1000" b="1">
                <a:solidFill>
                  <a:srgbClr val="1F5C48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481</Words>
  <Application>Microsoft Office PowerPoint</Application>
  <PresentationFormat>와이드스크린</PresentationFormat>
  <Paragraphs>89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이승엽</dc:creator>
  <cp:keywords/>
  <dc:description>generated using python-pptx</dc:description>
  <cp:lastModifiedBy>승엽 이</cp:lastModifiedBy>
  <cp:revision>1</cp:revision>
  <dcterms:created xsi:type="dcterms:W3CDTF">2013-01-27T09:14:16Z</dcterms:created>
  <dcterms:modified xsi:type="dcterms:W3CDTF">2026-08-05T15:07:21Z</dcterms:modified>
  <cp:category/>
</cp:coreProperties>
</file>